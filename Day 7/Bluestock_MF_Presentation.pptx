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1097280"/>
            <a:ext cx="45720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731520"/>
          </a:xfrm>
          <a:prstGeom prst="rect">
            <a:avLst/>
          </a:prstGeom>
          <a:noFill/>
        </p:spPr>
        <p:txBody>
          <a:bodyPr wrap="square">
            <a:spAutoFit/>
          </a:bodyPr>
          <a:lstStyle/>
          <a:p>
            <a:pPr algn="ctr">
              <a:defRPr sz="3800" b="1">
                <a:solidFill>
                  <a:srgbClr val="FFFFFF"/>
                </a:solidFill>
              </a:defRPr>
            </a:pPr>
            <a:r>
              <a:t>BLUESTOCK MUTUAL FUND</a:t>
            </a:r>
          </a:p>
        </p:txBody>
      </p:sp>
      <p:sp>
        <p:nvSpPr>
          <p:cNvPr id="5" name="TextBox 4"/>
          <p:cNvSpPr txBox="1"/>
          <p:nvPr/>
        </p:nvSpPr>
        <p:spPr>
          <a:xfrm>
            <a:off x="457200" y="2103120"/>
            <a:ext cx="8229600" cy="731520"/>
          </a:xfrm>
          <a:prstGeom prst="rect">
            <a:avLst/>
          </a:prstGeom>
          <a:noFill/>
        </p:spPr>
        <p:txBody>
          <a:bodyPr wrap="square">
            <a:spAutoFit/>
          </a:bodyPr>
          <a:lstStyle/>
          <a:p>
            <a:pPr algn="ctr">
              <a:defRPr sz="3800" b="1">
                <a:solidFill>
                  <a:srgbClr val="FFFFFF"/>
                </a:solidFill>
              </a:defRPr>
            </a:pPr>
            <a:r>
              <a:t>ANALYTICS CAPSTONE</a:t>
            </a:r>
          </a:p>
        </p:txBody>
      </p:sp>
      <p:sp>
        <p:nvSpPr>
          <p:cNvPr id="6" name="Rectangle 5"/>
          <p:cNvSpPr/>
          <p:nvPr/>
        </p:nvSpPr>
        <p:spPr>
          <a:xfrm>
            <a:off x="2743200" y="3017520"/>
            <a:ext cx="3657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291840"/>
            <a:ext cx="8229600" cy="548640"/>
          </a:xfrm>
          <a:prstGeom prst="rect">
            <a:avLst/>
          </a:prstGeom>
          <a:noFill/>
        </p:spPr>
        <p:txBody>
          <a:bodyPr wrap="square">
            <a:spAutoFit/>
          </a:bodyPr>
          <a:lstStyle/>
          <a:p>
            <a:pPr algn="ctr">
              <a:defRPr sz="1600" b="0">
                <a:solidFill>
                  <a:srgbClr val="DCDCDC"/>
                </a:solidFill>
              </a:defRPr>
            </a:pPr>
            <a:r>
              <a:t>End-to-End Data Engineering, Dashboarding &amp; Risk Analysis</a:t>
            </a:r>
          </a:p>
        </p:txBody>
      </p:sp>
      <p:sp>
        <p:nvSpPr>
          <p:cNvPr id="8" name="TextBox 7"/>
          <p:cNvSpPr txBox="1"/>
          <p:nvPr/>
        </p:nvSpPr>
        <p:spPr>
          <a:xfrm>
            <a:off x="457200" y="4389120"/>
            <a:ext cx="8229600" cy="457200"/>
          </a:xfrm>
          <a:prstGeom prst="rect">
            <a:avLst/>
          </a:prstGeom>
          <a:noFill/>
        </p:spPr>
        <p:txBody>
          <a:bodyPr wrap="square">
            <a:spAutoFit/>
          </a:bodyPr>
          <a:lstStyle/>
          <a:p>
            <a:pPr algn="ctr">
              <a:defRPr sz="1600" b="1">
                <a:solidFill>
                  <a:srgbClr val="FFFFFF"/>
                </a:solidFill>
              </a:defRPr>
            </a:pPr>
            <a:r>
              <a:t>Submitted By: Damodara P</a:t>
            </a:r>
          </a:p>
        </p:txBody>
      </p:sp>
      <p:sp>
        <p:nvSpPr>
          <p:cNvPr id="9" name="TextBox 8"/>
          <p:cNvSpPr txBox="1"/>
          <p:nvPr/>
        </p:nvSpPr>
        <p:spPr>
          <a:xfrm>
            <a:off x="457200" y="4846320"/>
            <a:ext cx="8229600" cy="457200"/>
          </a:xfrm>
          <a:prstGeom prst="rect">
            <a:avLst/>
          </a:prstGeom>
          <a:noFill/>
        </p:spPr>
        <p:txBody>
          <a:bodyPr wrap="square">
            <a:spAutoFit/>
          </a:bodyPr>
          <a:lstStyle/>
          <a:p>
            <a:pPr algn="ctr">
              <a:defRPr sz="1400" b="0">
                <a:solidFill>
                  <a:srgbClr val="DCDCDC"/>
                </a:solidFill>
              </a:defRPr>
            </a:pPr>
            <a:r>
              <a:t>Data Analyst Intern  |  Bluestock Fintech</a:t>
            </a:r>
          </a:p>
        </p:txBody>
      </p:sp>
      <p:sp>
        <p:nvSpPr>
          <p:cNvPr id="10" name="TextBox 9"/>
          <p:cNvSpPr txBox="1"/>
          <p:nvPr/>
        </p:nvSpPr>
        <p:spPr>
          <a:xfrm>
            <a:off x="457200" y="5303520"/>
            <a:ext cx="8229600" cy="457200"/>
          </a:xfrm>
          <a:prstGeom prst="rect">
            <a:avLst/>
          </a:prstGeom>
          <a:noFill/>
        </p:spPr>
        <p:txBody>
          <a:bodyPr wrap="square">
            <a:spAutoFit/>
          </a:bodyPr>
          <a:lstStyle/>
          <a:p>
            <a:pPr algn="ctr">
              <a:defRPr sz="1300" b="0">
                <a:solidFill>
                  <a:srgbClr val="DCDCDC"/>
                </a:solidFill>
              </a:defRPr>
            </a:pPr>
            <a:r>
              <a:t>pdamodaran2000@gmail.com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Problem Statement &amp; Objectives</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The Challenge: </a:t>
            </a:r>
            <a:r>
              <a:rPr sz="1300">
                <a:solidFill>
                  <a:srgbClr val="282828"/>
                </a:solidFill>
              </a:rPr>
              <a:t>The Indian Mutual Fund industry manages Rs.81 Lakh Crore across 1,900+ schemes. Retail investors lack accessible, data-driven tools to compare risk-adjusted fund performance and make informed investment decisions.</a:t>
            </a:r>
          </a:p>
          <a:p>
            <a:pPr>
              <a:lnSpc>
                <a:spcPts val="2000"/>
              </a:lnSpc>
              <a:spcBef>
                <a:spcPts val="400"/>
              </a:spcBef>
              <a:spcAft>
                <a:spcPts val="600"/>
              </a:spcAft>
            </a:pPr>
            <a:r>
              <a:rPr b="1" sz="1300">
                <a:solidFill>
                  <a:srgbClr val="003366"/>
                </a:solidFill>
              </a:rPr>
              <a:t>Objective 1 - Data Pipeline: </a:t>
            </a:r>
            <a:r>
              <a:rPr sz="1300">
                <a:solidFill>
                  <a:srgbClr val="282828"/>
                </a:solidFill>
              </a:rPr>
              <a:t>Build an automated ETL pipeline to ingest, clean, validate, and store 17 raw datasets (127,000+ rows) into a structured Star Schema SQLite database.</a:t>
            </a:r>
          </a:p>
          <a:p>
            <a:pPr>
              <a:lnSpc>
                <a:spcPts val="2000"/>
              </a:lnSpc>
              <a:spcBef>
                <a:spcPts val="400"/>
              </a:spcBef>
              <a:spcAft>
                <a:spcPts val="600"/>
              </a:spcAft>
            </a:pPr>
            <a:r>
              <a:rPr b="1" sz="1300">
                <a:solidFill>
                  <a:srgbClr val="003366"/>
                </a:solidFill>
              </a:rPr>
              <a:t>Objective 2 - Performance Analytics: </a:t>
            </a:r>
            <a:r>
              <a:rPr sz="1300">
                <a:solidFill>
                  <a:srgbClr val="282828"/>
                </a:solidFill>
              </a:rPr>
              <a:t>Calculate CAGR (1yr/3yr/5yr), Sharpe Ratio, Sortino Ratio, Alpha, Beta, Maximum Drawdown, VaR, and CVaR for 40 mutual fund schemes.</a:t>
            </a:r>
          </a:p>
          <a:p>
            <a:pPr>
              <a:lnSpc>
                <a:spcPts val="2000"/>
              </a:lnSpc>
              <a:spcBef>
                <a:spcPts val="400"/>
              </a:spcBef>
              <a:spcAft>
                <a:spcPts val="600"/>
              </a:spcAft>
            </a:pPr>
            <a:r>
              <a:rPr b="1" sz="1300">
                <a:solidFill>
                  <a:srgbClr val="003366"/>
                </a:solidFill>
              </a:rPr>
              <a:t>Objective 3 - Interactive Dashboard: </a:t>
            </a:r>
            <a:r>
              <a:rPr sz="1300">
                <a:solidFill>
                  <a:srgbClr val="282828"/>
                </a:solidFill>
              </a:rPr>
              <a:t>Develop a 4-page interactive Power BI dashboard with KPI cards, scatter plots, drill-through navigation, slicers, and tooltips.</a:t>
            </a:r>
          </a:p>
          <a:p>
            <a:pPr>
              <a:lnSpc>
                <a:spcPts val="2000"/>
              </a:lnSpc>
              <a:spcBef>
                <a:spcPts val="400"/>
              </a:spcBef>
              <a:spcAft>
                <a:spcPts val="600"/>
              </a:spcAft>
            </a:pPr>
            <a:r>
              <a:rPr b="1" sz="1300">
                <a:solidFill>
                  <a:srgbClr val="003366"/>
                </a:solidFill>
              </a:rPr>
              <a:t>Objective 4 - Recommendation Engine: </a:t>
            </a:r>
            <a:r>
              <a:rPr sz="1300">
                <a:solidFill>
                  <a:srgbClr val="282828"/>
                </a:solidFill>
              </a:rPr>
              <a:t>Build a Python-based algorithmic fund recommender that maps investor risk profiles (Low/Moderate/High) to optimal funds using Sharpe Ratio rankings.</a:t>
            </a:r>
          </a:p>
          <a:p>
            <a:pPr>
              <a:lnSpc>
                <a:spcPts val="2000"/>
              </a:lnSpc>
              <a:spcBef>
                <a:spcPts val="400"/>
              </a:spcBef>
              <a:spcAft>
                <a:spcPts val="600"/>
              </a:spcAft>
            </a:pPr>
            <a:r>
              <a:rPr b="1" sz="1300">
                <a:solidFill>
                  <a:srgbClr val="003366"/>
                </a:solidFill>
              </a:rPr>
              <a:t>Objective 5 - Investor Intelligence: </a:t>
            </a:r>
            <a:r>
              <a:rPr sz="1300">
                <a:solidFill>
                  <a:srgbClr val="282828"/>
                </a:solidFill>
              </a:rPr>
              <a:t>Perform cohort analysis, SIP continuity tracking, and demographic segmentation to identify at-risk investors and growth opportunities.</a:t>
            </a:r>
          </a:p>
          <a:p>
            <a:pPr>
              <a:lnSpc>
                <a:spcPts val="2000"/>
              </a:lnSpc>
              <a:spcBef>
                <a:spcPts val="600"/>
              </a:spcBef>
            </a:pPr>
            <a:r>
              <a:rPr sz="1200" i="1">
                <a:solidFill>
                  <a:srgbClr val="646464"/>
                </a:solidFill>
              </a:rPr>
              <a:t>Timeline: 7-day intensive capstone project covering data ingestion through final reporting.</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Data Sources &amp; Architecture</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10 Core Datasets Ingested: </a:t>
            </a:r>
            <a:r>
              <a:rPr sz="1300">
                <a:solidFill>
                  <a:srgbClr val="282828"/>
                </a:solidFill>
              </a:rPr>
              <a:t>Fund Master (40 schemes), NAV History (64,320 records), AUM by Fund House (90 records), Monthly SIP Inflows (48 months), Category Inflows (144 records), Industry Folios (21 snapshots), Investor Transactions (32,778 records), Benchmark Indices (8,050 records).</a:t>
            </a:r>
          </a:p>
          <a:p>
            <a:pPr>
              <a:lnSpc>
                <a:spcPts val="2000"/>
              </a:lnSpc>
              <a:spcBef>
                <a:spcPts val="400"/>
              </a:spcBef>
              <a:spcAft>
                <a:spcPts val="600"/>
              </a:spcAft>
            </a:pPr>
            <a:r>
              <a:rPr b="1" sz="1300">
                <a:solidFill>
                  <a:srgbClr val="003366"/>
                </a:solidFill>
              </a:rPr>
              <a:t>Total Data Volume: </a:t>
            </a:r>
            <a:r>
              <a:rPr sz="1300">
                <a:solidFill>
                  <a:srgbClr val="282828"/>
                </a:solidFill>
              </a:rPr>
              <a:t>127,000+ rows across 17 files including individual fund NAV CSVs and combined scheme data for 6 major AMCs spanning Jan 2022 to Dec 2025.</a:t>
            </a:r>
          </a:p>
          <a:p>
            <a:pPr>
              <a:lnSpc>
                <a:spcPts val="2000"/>
              </a:lnSpc>
              <a:spcBef>
                <a:spcPts val="400"/>
              </a:spcBef>
              <a:spcAft>
                <a:spcPts val="600"/>
              </a:spcAft>
            </a:pPr>
            <a:r>
              <a:rPr b="1" sz="1300">
                <a:solidFill>
                  <a:srgbClr val="003366"/>
                </a:solidFill>
              </a:rPr>
              <a:t>Star Schema Database: </a:t>
            </a:r>
            <a:r>
              <a:rPr sz="1300">
                <a:solidFill>
                  <a:srgbClr val="282828"/>
                </a:solidFill>
              </a:rPr>
              <a:t>Fact tables (fact_nav, fact_transactions, fact_performance) + Dimension tables (dim_fund with 40 schemes, dim_date with 1,608 date entries) loaded into bluestock_mf.db SQLite database.</a:t>
            </a:r>
          </a:p>
          <a:p>
            <a:pPr>
              <a:lnSpc>
                <a:spcPts val="2000"/>
              </a:lnSpc>
              <a:spcBef>
                <a:spcPts val="400"/>
              </a:spcBef>
              <a:spcAft>
                <a:spcPts val="600"/>
              </a:spcAft>
            </a:pPr>
            <a:r>
              <a:rPr b="1" sz="1300">
                <a:solidFill>
                  <a:srgbClr val="003366"/>
                </a:solidFill>
              </a:rPr>
              <a:t>100% Data Validation: </a:t>
            </a:r>
            <a:r>
              <a:rPr sz="1300">
                <a:solidFill>
                  <a:srgbClr val="282828"/>
                </a:solidFill>
              </a:rPr>
              <a:t>Automated row-count checks confirmed zero data loss across all 11 tables. AMFI code cross-validation achieved 100% match rate between Fund Master and NAV History.</a:t>
            </a:r>
          </a:p>
          <a:p>
            <a:pPr>
              <a:lnSpc>
                <a:spcPts val="2000"/>
              </a:lnSpc>
              <a:spcBef>
                <a:spcPts val="400"/>
              </a:spcBef>
              <a:spcAft>
                <a:spcPts val="600"/>
              </a:spcAft>
            </a:pPr>
            <a:r>
              <a:rPr b="1" sz="1300">
                <a:solidFill>
                  <a:srgbClr val="003366"/>
                </a:solidFill>
              </a:rPr>
              <a:t>Tech Stack: </a:t>
            </a:r>
            <a:r>
              <a:rPr sz="1300">
                <a:solidFill>
                  <a:srgbClr val="282828"/>
                </a:solidFill>
              </a:rPr>
              <a:t>Python 3.14 (Pandas, NumPy, SciPy, Matplotlib, Seaborn, Plotly), SQLite3, Jupyter Notebooks, Power BI Desktop, Git/GitHub for version control.</a:t>
            </a:r>
          </a:p>
          <a:p>
            <a:pPr>
              <a:lnSpc>
                <a:spcPts val="2000"/>
              </a:lnSpc>
              <a:spcBef>
                <a:spcPts val="600"/>
              </a:spcBef>
            </a:pPr>
            <a:r>
              <a:rPr sz="1200" i="1">
                <a:solidFill>
                  <a:srgbClr val="646464"/>
                </a:solidFill>
              </a:rPr>
              <a:t>Data sourced from AMFI (Association of Mutual Funds in India) and supplementary financial data providers.</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System Architecture: ETL Pipeline</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EXTRACT (Day 1): </a:t>
            </a:r>
            <a:r>
              <a:rPr sz="1300">
                <a:solidFill>
                  <a:srgbClr val="282828"/>
                </a:solidFill>
              </a:rPr>
              <a:t>Python script (data_ingestion.py) automatically scans data/raw/ directory, validates file integrity, detects 17 files with 127,177 total rows, generates a comprehensive data quality report, and cross-validates AMFI codes across all tables.</a:t>
            </a:r>
          </a:p>
          <a:p>
            <a:pPr>
              <a:lnSpc>
                <a:spcPts val="2000"/>
              </a:lnSpc>
              <a:spcBef>
                <a:spcPts val="400"/>
              </a:spcBef>
              <a:spcAft>
                <a:spcPts val="600"/>
              </a:spcAft>
            </a:pPr>
            <a:r>
              <a:rPr b="1" sz="1300">
                <a:solidFill>
                  <a:srgbClr val="003366"/>
                </a:solidFill>
              </a:rPr>
              <a:t>TRANSFORM (Day 2): </a:t>
            </a:r>
            <a:r>
              <a:rPr sz="1300">
                <a:solidFill>
                  <a:srgbClr val="282828"/>
                </a:solidFill>
              </a:rPr>
              <a:t>Column standardization to snake_case, datetime parsing, removal of zero-NAV anomalies, deduplication using keep-last strategy, and dynamic generation of dim_date table with Year/Quarter/Month/FY flags (1,608 rows).</a:t>
            </a:r>
          </a:p>
          <a:p>
            <a:pPr>
              <a:lnSpc>
                <a:spcPts val="2000"/>
              </a:lnSpc>
              <a:spcBef>
                <a:spcPts val="400"/>
              </a:spcBef>
              <a:spcAft>
                <a:spcPts val="600"/>
              </a:spcAft>
            </a:pPr>
            <a:r>
              <a:rPr b="1" sz="1300">
                <a:solidFill>
                  <a:srgbClr val="003366"/>
                </a:solidFill>
              </a:rPr>
              <a:t>LOAD (Day 2): </a:t>
            </a:r>
            <a:r>
              <a:rPr sz="1300">
                <a:solidFill>
                  <a:srgbClr val="282828"/>
                </a:solidFill>
              </a:rPr>
              <a:t>Cleaned DataFrames mapped to SQL types and pushed into bluestock_mf.db. 11 tables loaded with automated row-count validation - all achieving 100% match.</a:t>
            </a:r>
          </a:p>
          <a:p>
            <a:pPr>
              <a:lnSpc>
                <a:spcPts val="2000"/>
              </a:lnSpc>
              <a:spcBef>
                <a:spcPts val="400"/>
              </a:spcBef>
              <a:spcAft>
                <a:spcPts val="600"/>
              </a:spcAft>
            </a:pPr>
            <a:r>
              <a:rPr b="1" sz="1300">
                <a:solidFill>
                  <a:srgbClr val="003366"/>
                </a:solidFill>
              </a:rPr>
              <a:t>ANALYZE (Day 3-4-6): </a:t>
            </a:r>
            <a:r>
              <a:rPr sz="1300">
                <a:solidFill>
                  <a:srgbClr val="282828"/>
                </a:solidFill>
              </a:rPr>
              <a:t>EDA in Jupyter Notebooks using Matplotlib/Seaborn/Plotly. Performance metrics (CAGR, Sharpe, Sortino, Alpha, Beta) and advanced risk analytics (VaR, CVaR, HHI, Cohort Analysis) computed programmatically.</a:t>
            </a:r>
          </a:p>
          <a:p>
            <a:pPr>
              <a:lnSpc>
                <a:spcPts val="2000"/>
              </a:lnSpc>
              <a:spcBef>
                <a:spcPts val="400"/>
              </a:spcBef>
              <a:spcAft>
                <a:spcPts val="600"/>
              </a:spcAft>
            </a:pPr>
            <a:r>
              <a:rPr b="1" sz="1300">
                <a:solidFill>
                  <a:srgbClr val="003366"/>
                </a:solidFill>
              </a:rPr>
              <a:t>VISUALIZE (Day 5): </a:t>
            </a:r>
            <a:r>
              <a:rPr sz="1300">
                <a:solidFill>
                  <a:srgbClr val="282828"/>
                </a:solidFill>
              </a:rPr>
              <a:t>4-page interactive Power BI dashboard deployed with KPI cards, scatter plots, donut charts, heatmaps, dual-axis charts, slicers, and drill-through navigation.</a:t>
            </a:r>
          </a:p>
          <a:p>
            <a:pPr>
              <a:lnSpc>
                <a:spcPts val="2000"/>
              </a:lnSpc>
              <a:spcBef>
                <a:spcPts val="400"/>
              </a:spcBef>
              <a:spcAft>
                <a:spcPts val="600"/>
              </a:spcAft>
            </a:pPr>
            <a:r>
              <a:rPr b="1" sz="1300">
                <a:solidFill>
                  <a:srgbClr val="003366"/>
                </a:solidFill>
              </a:rPr>
              <a:t>DEPLOY (Day 7): </a:t>
            </a:r>
            <a:r>
              <a:rPr sz="1300">
                <a:solidFill>
                  <a:srgbClr val="282828"/>
                </a:solidFill>
              </a:rPr>
              <a:t>Final report, 12-slide presentation, cleaned GitHub repository with comprehensive README, and master run_pipeline.py for one-click execution.</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EDA Highlights: Industry Trends</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AUM Growth: </a:t>
            </a:r>
            <a:r>
              <a:rPr sz="1300">
                <a:solidFill>
                  <a:srgbClr val="282828"/>
                </a:solidFill>
              </a:rPr>
              <a:t>Total Industry AUM crossed Rs.81 Lakh Crore by end of 2025, representing a compound annual growth rate of approximately 18% over the 4-year observation window. This meteoric rise reflects India's deepening capital market participation.</a:t>
            </a:r>
          </a:p>
          <a:p>
            <a:pPr>
              <a:lnSpc>
                <a:spcPts val="2000"/>
              </a:lnSpc>
              <a:spcBef>
                <a:spcPts val="400"/>
              </a:spcBef>
              <a:spcAft>
                <a:spcPts val="600"/>
              </a:spcAft>
            </a:pPr>
            <a:r>
              <a:rPr b="1" sz="1300">
                <a:solidFill>
                  <a:srgbClr val="003366"/>
                </a:solidFill>
              </a:rPr>
              <a:t>Market Concentration: </a:t>
            </a:r>
            <a:r>
              <a:rPr sz="1300">
                <a:solidFill>
                  <a:srgbClr val="282828"/>
                </a:solidFill>
              </a:rPr>
              <a:t>The Top 10 AMCs (SBI, HDFC, ICICI Prudential, Kotak, Nippon, Axis, Aditya Birla, UTI, DSP, Mirae Asset) control over 80% of total AUM, indicating a highly concentrated oligopolistic market structure.</a:t>
            </a:r>
          </a:p>
          <a:p>
            <a:pPr>
              <a:lnSpc>
                <a:spcPts val="2000"/>
              </a:lnSpc>
              <a:spcBef>
                <a:spcPts val="400"/>
              </a:spcBef>
              <a:spcAft>
                <a:spcPts val="600"/>
              </a:spcAft>
            </a:pPr>
            <a:r>
              <a:rPr b="1" sz="1300">
                <a:solidFill>
                  <a:srgbClr val="003366"/>
                </a:solidFill>
              </a:rPr>
              <a:t>SIP Revolution: </a:t>
            </a:r>
            <a:r>
              <a:rPr sz="1300">
                <a:solidFill>
                  <a:srgbClr val="282828"/>
                </a:solidFill>
              </a:rPr>
              <a:t>Monthly SIP inflows reached an all-time high of Rs.31,002 Crore (Dec 2025). Active SIP accounts surpassed 26.12 Crore with consistent 15%+ Year-over-Year growth, confirming a structural behavioral shift from lumpsum to disciplined investing.</a:t>
            </a:r>
          </a:p>
          <a:p>
            <a:pPr>
              <a:lnSpc>
                <a:spcPts val="2000"/>
              </a:lnSpc>
              <a:spcBef>
                <a:spcPts val="400"/>
              </a:spcBef>
              <a:spcAft>
                <a:spcPts val="600"/>
              </a:spcAft>
            </a:pPr>
            <a:r>
              <a:rPr b="1" sz="1300">
                <a:solidFill>
                  <a:srgbClr val="003366"/>
                </a:solidFill>
              </a:rPr>
              <a:t>Folio Explosion: </a:t>
            </a:r>
            <a:r>
              <a:rPr sz="1300">
                <a:solidFill>
                  <a:srgbClr val="282828"/>
                </a:solidFill>
              </a:rPr>
              <a:t>Total mutual fund folios crossed 26.12 Crore, driven by digital-first platforms and simplified KYC processes enabling Tier-2/3 city participation.</a:t>
            </a:r>
          </a:p>
          <a:p>
            <a:pPr>
              <a:lnSpc>
                <a:spcPts val="2000"/>
              </a:lnSpc>
              <a:spcBef>
                <a:spcPts val="400"/>
              </a:spcBef>
              <a:spcAft>
                <a:spcPts val="600"/>
              </a:spcAft>
            </a:pPr>
            <a:r>
              <a:rPr b="1" sz="1300">
                <a:solidFill>
                  <a:srgbClr val="003366"/>
                </a:solidFill>
              </a:rPr>
              <a:t>Category Trends: </a:t>
            </a:r>
            <a:r>
              <a:rPr sz="1300">
                <a:solidFill>
                  <a:srgbClr val="282828"/>
                </a:solidFill>
              </a:rPr>
              <a:t>Equity schemes attracted the lion's share of net inflows, while Debt funds experienced intermittent outflows during rate-hike cycles. ELSS (tax-saver) and Flexi Cap categories showed the most consistent inflow patterns.</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EDA Highlights: Investor Demographics</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Age Distribution: </a:t>
            </a:r>
            <a:r>
              <a:rPr sz="1300">
                <a:solidFill>
                  <a:srgbClr val="282828"/>
                </a:solidFill>
              </a:rPr>
              <a:t>The 26-35 age cohort dominates SIP investments with the highest average ticket size (Rs.5,000-10,000/month). The 18-25 cohort shows the fastest adoption rate but with smaller ticket sizes (Rs.500-2,000/month).</a:t>
            </a:r>
          </a:p>
          <a:p>
            <a:pPr>
              <a:lnSpc>
                <a:spcPts val="2000"/>
              </a:lnSpc>
              <a:spcBef>
                <a:spcPts val="400"/>
              </a:spcBef>
              <a:spcAft>
                <a:spcPts val="600"/>
              </a:spcAft>
            </a:pPr>
            <a:r>
              <a:rPr b="1" sz="1300">
                <a:solidFill>
                  <a:srgbClr val="003366"/>
                </a:solidFill>
              </a:rPr>
              <a:t>Geographic Spread: </a:t>
            </a:r>
            <a:r>
              <a:rPr sz="1300">
                <a:solidFill>
                  <a:srgbClr val="282828"/>
                </a:solidFill>
              </a:rPr>
              <a:t>Maharashtra and Delhi NCR lead by absolute volume, contributing over 35% of total transactions. However, Tier-2 cities (Pune, Jaipur, Lucknow) and Tier-3 cities show 25% higher growth rates, indicating deepening financial inclusion.</a:t>
            </a:r>
          </a:p>
          <a:p>
            <a:pPr>
              <a:lnSpc>
                <a:spcPts val="2000"/>
              </a:lnSpc>
              <a:spcBef>
                <a:spcPts val="400"/>
              </a:spcBef>
              <a:spcAft>
                <a:spcPts val="600"/>
              </a:spcAft>
            </a:pPr>
            <a:r>
              <a:rPr b="1" sz="1300">
                <a:solidFill>
                  <a:srgbClr val="003366"/>
                </a:solidFill>
              </a:rPr>
              <a:t>Transaction Split: </a:t>
            </a:r>
            <a:r>
              <a:rPr sz="1300">
                <a:solidFill>
                  <a:srgbClr val="282828"/>
                </a:solidFill>
              </a:rPr>
              <a:t>SIPs account for 60%+ of transactions by count, while Lumpsum investments dominate by total value. Redemptions spike during market correction periods, particularly among the 56+ age group.</a:t>
            </a:r>
          </a:p>
          <a:p>
            <a:pPr>
              <a:lnSpc>
                <a:spcPts val="2000"/>
              </a:lnSpc>
              <a:spcBef>
                <a:spcPts val="400"/>
              </a:spcBef>
              <a:spcAft>
                <a:spcPts val="600"/>
              </a:spcAft>
            </a:pPr>
            <a:r>
              <a:rPr b="1" sz="1300">
                <a:solidFill>
                  <a:srgbClr val="003366"/>
                </a:solidFill>
              </a:rPr>
              <a:t>Gender Analysis: </a:t>
            </a:r>
            <a:r>
              <a:rPr sz="1300">
                <a:solidFill>
                  <a:srgbClr val="282828"/>
                </a:solidFill>
              </a:rPr>
              <a:t>Male investors significantly outnumber female investors (approximately 70:30 split), representing a massive untapped market opportunity for targeted campaigns.</a:t>
            </a:r>
          </a:p>
          <a:p>
            <a:pPr>
              <a:lnSpc>
                <a:spcPts val="2000"/>
              </a:lnSpc>
              <a:spcBef>
                <a:spcPts val="400"/>
              </a:spcBef>
              <a:spcAft>
                <a:spcPts val="600"/>
              </a:spcAft>
            </a:pPr>
            <a:r>
              <a:rPr b="1" sz="1300">
                <a:solidFill>
                  <a:srgbClr val="003366"/>
                </a:solidFill>
              </a:rPr>
              <a:t>Payment Modes: </a:t>
            </a:r>
            <a:r>
              <a:rPr sz="1300">
                <a:solidFill>
                  <a:srgbClr val="282828"/>
                </a:solidFill>
              </a:rPr>
              <a:t>UPI and Net Banking dominate transaction payment modes, with digital payments accounting for over 85% of all transactions, reflecting India's fintech revolution.</a:t>
            </a:r>
          </a:p>
          <a:p>
            <a:pPr>
              <a:lnSpc>
                <a:spcPts val="2000"/>
              </a:lnSpc>
              <a:spcBef>
                <a:spcPts val="400"/>
              </a:spcBef>
              <a:spcAft>
                <a:spcPts val="600"/>
              </a:spcAft>
            </a:pPr>
            <a:r>
              <a:rPr b="1" sz="1300">
                <a:solidFill>
                  <a:srgbClr val="003366"/>
                </a:solidFill>
              </a:rPr>
              <a:t>Income Correlation: </a:t>
            </a:r>
            <a:r>
              <a:rPr sz="1300">
                <a:solidFill>
                  <a:srgbClr val="282828"/>
                </a:solidFill>
              </a:rPr>
              <a:t>Investors with annual income above Rs.10 Lakh show a strong preference for Mid Cap and Small Cap funds, while lower-income brackets favor Large Cap and Index funds.</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Performance Metrics: Risk-Adjusted Returns</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CAGR (Compound Annual Growth Rate): </a:t>
            </a:r>
            <a:r>
              <a:rPr sz="1300">
                <a:solidFill>
                  <a:srgbClr val="282828"/>
                </a:solidFill>
              </a:rPr>
              <a:t>Computed over 1yr, 3yr, and 5yr horizons using the formula: CAGR = (NAV_end/NAV_start)^(1/n) - 1. Normalizes returns across different time periods for fair cross-fund comparison. Top performer: Nippon India Small Cap (5yr CAGR: 28.4%).</a:t>
            </a:r>
          </a:p>
          <a:p>
            <a:pPr>
              <a:lnSpc>
                <a:spcPts val="2000"/>
              </a:lnSpc>
              <a:spcBef>
                <a:spcPts val="400"/>
              </a:spcBef>
              <a:spcAft>
                <a:spcPts val="600"/>
              </a:spcAft>
            </a:pPr>
            <a:r>
              <a:rPr b="1" sz="1300">
                <a:solidFill>
                  <a:srgbClr val="003366"/>
                </a:solidFill>
              </a:rPr>
              <a:t>Sharpe Ratio: </a:t>
            </a:r>
            <a:r>
              <a:rPr sz="1300">
                <a:solidFill>
                  <a:srgbClr val="282828"/>
                </a:solidFill>
              </a:rPr>
              <a:t>Sharpe = (Rp - Rf) / Std(Rp). Risk-free rate set at 6.5% (RBI repo rate proxy). Annualized using sqrt(252 trading days). A Sharpe &gt; 1.0 indicates excellent risk-adjusted performance. Top performer: Mirae Asset Large Cap (Sharpe: 1.45).</a:t>
            </a:r>
          </a:p>
          <a:p>
            <a:pPr>
              <a:lnSpc>
                <a:spcPts val="2000"/>
              </a:lnSpc>
              <a:spcBef>
                <a:spcPts val="400"/>
              </a:spcBef>
              <a:spcAft>
                <a:spcPts val="600"/>
              </a:spcAft>
            </a:pPr>
            <a:r>
              <a:rPr b="1" sz="1300">
                <a:solidFill>
                  <a:srgbClr val="003366"/>
                </a:solidFill>
              </a:rPr>
              <a:t>Sortino Ratio: </a:t>
            </a:r>
            <a:r>
              <a:rPr sz="1300">
                <a:solidFill>
                  <a:srgbClr val="282828"/>
                </a:solidFill>
              </a:rPr>
              <a:t>Sortino = (Rp - Rf) / Downside_Std. Unlike Sharpe, only penalizes downside volatility (negative return days). Preferred by conservative investors focused on capital preservation. Sortino &gt; 1.5 indicates strong downside protection.</a:t>
            </a:r>
          </a:p>
          <a:p>
            <a:pPr>
              <a:lnSpc>
                <a:spcPts val="2000"/>
              </a:lnSpc>
              <a:spcBef>
                <a:spcPts val="400"/>
              </a:spcBef>
              <a:spcAft>
                <a:spcPts val="600"/>
              </a:spcAft>
            </a:pPr>
            <a:r>
              <a:rPr b="1" sz="1300">
                <a:solidFill>
                  <a:srgbClr val="003366"/>
                </a:solidFill>
              </a:rPr>
              <a:t>Alpha &amp; Beta: </a:t>
            </a:r>
            <a:r>
              <a:rPr sz="1300">
                <a:solidFill>
                  <a:srgbClr val="282828"/>
                </a:solidFill>
              </a:rPr>
              <a:t>Calculated via linear regression (scipy.stats.linregress) against NIFTY 100 benchmark. Positive Alpha = fund manager skill generating excess returns. Beta &gt; 1.0 = fund is more volatile than the market. Beta &lt; 1.0 = defensive fund with lower market sensitivity.</a:t>
            </a:r>
          </a:p>
          <a:p>
            <a:pPr>
              <a:lnSpc>
                <a:spcPts val="2000"/>
              </a:lnSpc>
              <a:spcBef>
                <a:spcPts val="400"/>
              </a:spcBef>
              <a:spcAft>
                <a:spcPts val="600"/>
              </a:spcAft>
            </a:pPr>
            <a:r>
              <a:rPr b="1" sz="1300">
                <a:solidFill>
                  <a:srgbClr val="003366"/>
                </a:solidFill>
              </a:rPr>
              <a:t>Maximum Drawdown: </a:t>
            </a:r>
            <a:r>
              <a:rPr sz="1300">
                <a:solidFill>
                  <a:srgbClr val="282828"/>
                </a:solidFill>
              </a:rPr>
              <a:t>Largest peak-to-trough NAV decline during the observation period. Critical for worst-case scenario assessment. Funds with drawdowns exceeding 25% were flagged for heightened volatility risk in the final scorecard.</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Advanced Risk Analytics &amp; Modeling</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Value at Risk (95% VaR): </a:t>
            </a:r>
            <a:r>
              <a:rPr sz="1300">
                <a:solidFill>
                  <a:srgbClr val="282828"/>
                </a:solidFill>
              </a:rPr>
              <a:t>Calculated as the 5th percentile of the daily return distribution. Example: VaR of -2.1% means only a 5% probability of losing more than 2.1% in a single day. Small Cap funds showed the highest VaR values, confirming higher tail risk.</a:t>
            </a:r>
          </a:p>
          <a:p>
            <a:pPr>
              <a:lnSpc>
                <a:spcPts val="2000"/>
              </a:lnSpc>
              <a:spcBef>
                <a:spcPts val="400"/>
              </a:spcBef>
              <a:spcAft>
                <a:spcPts val="600"/>
              </a:spcAft>
            </a:pPr>
            <a:r>
              <a:rPr b="1" sz="1300">
                <a:solidFill>
                  <a:srgbClr val="003366"/>
                </a:solidFill>
              </a:rPr>
              <a:t>Conditional VaR (CVaR / Expected Shortfall): </a:t>
            </a:r>
            <a:r>
              <a:rPr sz="1300">
                <a:solidFill>
                  <a:srgbClr val="282828"/>
                </a:solidFill>
              </a:rPr>
              <a:t>Mean of all returns falling below the VaR threshold. Answers: "When losses exceed VaR, how severe are they on average?" CVaR provides a more conservative and realistic risk measure than VaR alone.</a:t>
            </a:r>
          </a:p>
          <a:p>
            <a:pPr>
              <a:lnSpc>
                <a:spcPts val="2000"/>
              </a:lnSpc>
              <a:spcBef>
                <a:spcPts val="400"/>
              </a:spcBef>
              <a:spcAft>
                <a:spcPts val="600"/>
              </a:spcAft>
            </a:pPr>
            <a:r>
              <a:rPr b="1" sz="1300">
                <a:solidFill>
                  <a:srgbClr val="003366"/>
                </a:solidFill>
              </a:rPr>
              <a:t>Rolling 90-Day Sharpe Ratio: </a:t>
            </a:r>
            <a:r>
              <a:rPr sz="1300">
                <a:solidFill>
                  <a:srgbClr val="282828"/>
                </a:solidFill>
              </a:rPr>
              <a:t>Computed for 5 representative funds to visualize time-varying risk-adjusted performance. Revealed Sharpe compression during mid-2022 global rate hike cycle followed by strong recovery during the 2023-2024 bull market phases.</a:t>
            </a:r>
          </a:p>
          <a:p>
            <a:pPr>
              <a:lnSpc>
                <a:spcPts val="2000"/>
              </a:lnSpc>
              <a:spcBef>
                <a:spcPts val="400"/>
              </a:spcBef>
              <a:spcAft>
                <a:spcPts val="600"/>
              </a:spcAft>
            </a:pPr>
            <a:r>
              <a:rPr b="1" sz="1300">
                <a:solidFill>
                  <a:srgbClr val="003366"/>
                </a:solidFill>
              </a:rPr>
              <a:t>Sector Concentration (HHI): </a:t>
            </a:r>
            <a:r>
              <a:rPr sz="1300">
                <a:solidFill>
                  <a:srgbClr val="282828"/>
                </a:solidFill>
              </a:rPr>
              <a:t>Herfindahl-Hirschman Index = sum(weight_i^2). HHI &gt; 0.25 = highly concentrated portfolio with excessive single-sector exposure. Financial Services dominated most equity portfolios, with IT as the second-heaviest sector weight.</a:t>
            </a:r>
          </a:p>
          <a:p>
            <a:pPr>
              <a:lnSpc>
                <a:spcPts val="2000"/>
              </a:lnSpc>
              <a:spcBef>
                <a:spcPts val="400"/>
              </a:spcBef>
              <a:spcAft>
                <a:spcPts val="600"/>
              </a:spcAft>
            </a:pPr>
            <a:r>
              <a:rPr b="1" sz="1300">
                <a:solidFill>
                  <a:srgbClr val="003366"/>
                </a:solidFill>
              </a:rPr>
              <a:t>Investor Cohort Analysis: </a:t>
            </a:r>
            <a:r>
              <a:rPr sz="1300">
                <a:solidFill>
                  <a:srgbClr val="282828"/>
                </a:solidFill>
              </a:rPr>
              <a:t>Segmented investors by first transaction year (2022-2025). Newer cohorts (2024-2025) invest smaller amounts but with higher frequency. Legacy cohorts (2022) have larger ticket sizes but show higher attrition rates.</a:t>
            </a:r>
          </a:p>
          <a:p>
            <a:pPr>
              <a:lnSpc>
                <a:spcPts val="2000"/>
              </a:lnSpc>
              <a:spcBef>
                <a:spcPts val="400"/>
              </a:spcBef>
              <a:spcAft>
                <a:spcPts val="600"/>
              </a:spcAft>
            </a:pPr>
            <a:r>
              <a:rPr b="1" sz="1300">
                <a:solidFill>
                  <a:srgbClr val="003366"/>
                </a:solidFill>
              </a:rPr>
              <a:t>SIP Continuity Score: </a:t>
            </a:r>
            <a:r>
              <a:rPr sz="1300">
                <a:solidFill>
                  <a:srgbClr val="282828"/>
                </a:solidFill>
              </a:rPr>
              <a:t>For investors with 6+ SIP transactions, average gap between payments was computed. Gaps exceeding 35 days flagged as "at-risk" for discontinuity. This powers automated retention campaigns to prevent investor churn.</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548640"/>
          </a:xfrm>
          <a:prstGeom prst="rect">
            <a:avLst/>
          </a:prstGeom>
          <a:noFill/>
        </p:spPr>
        <p:txBody>
          <a:bodyPr wrap="square">
            <a:spAutoFit/>
          </a:bodyPr>
          <a:lstStyle/>
          <a:p>
            <a:pPr algn="l">
              <a:defRPr sz="2200" b="1">
                <a:solidFill>
                  <a:srgbClr val="003366"/>
                </a:solidFill>
              </a:defRPr>
            </a:pPr>
            <a:r>
              <a:t>Dashboard: Industry Overview (Page 1)</a:t>
            </a:r>
          </a:p>
        </p:txBody>
      </p:sp>
      <p:sp>
        <p:nvSpPr>
          <p:cNvPr id="5" name="Rectangle 4"/>
          <p:cNvSpPr/>
          <p:nvPr/>
        </p:nvSpPr>
        <p:spPr>
          <a:xfrm>
            <a:off x="457200" y="77724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1.png"/>
          <p:cNvPicPr>
            <a:picLocks noChangeAspect="1"/>
          </p:cNvPicPr>
          <p:nvPr/>
        </p:nvPicPr>
        <p:blipFill>
          <a:blip r:embed="rId2"/>
          <a:stretch>
            <a:fillRect/>
          </a:stretch>
        </p:blipFill>
        <p:spPr>
          <a:xfrm>
            <a:off x="457200" y="914400"/>
            <a:ext cx="8229600" cy="4754880"/>
          </a:xfrm>
          <a:prstGeom prst="rect">
            <a:avLst/>
          </a:prstGeom>
        </p:spPr>
      </p:pic>
      <p:sp>
        <p:nvSpPr>
          <p:cNvPr id="7" name="TextBox 6"/>
          <p:cNvSpPr txBox="1"/>
          <p:nvPr/>
        </p:nvSpPr>
        <p:spPr>
          <a:xfrm>
            <a:off x="457200" y="5760720"/>
            <a:ext cx="8229600" cy="457200"/>
          </a:xfrm>
          <a:prstGeom prst="rect">
            <a:avLst/>
          </a:prstGeom>
          <a:noFill/>
        </p:spPr>
        <p:txBody>
          <a:bodyPr wrap="square">
            <a:spAutoFit/>
          </a:bodyPr>
          <a:lstStyle/>
          <a:p>
            <a:pPr>
              <a:lnSpc>
                <a:spcPts val="2000"/>
              </a:lnSpc>
              <a:defRPr sz="1100">
                <a:solidFill>
                  <a:srgbClr val="646464"/>
                </a:solidFill>
              </a:defRPr>
            </a:pPr>
            <a:r>
              <a:t>KPI Cards (Total AUM, SIP Inflows, Folios, Schemes) | AUM Trend Line 2022-2025 | Top 10 AMCs Bar Chart</a:t>
            </a:r>
          </a:p>
        </p:txBody>
      </p:sp>
      <p:sp>
        <p:nvSpPr>
          <p:cNvPr id="8" name="Rectangle 7"/>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548640"/>
          </a:xfrm>
          <a:prstGeom prst="rect">
            <a:avLst/>
          </a:prstGeom>
          <a:noFill/>
        </p:spPr>
        <p:txBody>
          <a:bodyPr wrap="square">
            <a:spAutoFit/>
          </a:bodyPr>
          <a:lstStyle/>
          <a:p>
            <a:pPr algn="l">
              <a:defRPr sz="2200" b="1">
                <a:solidFill>
                  <a:srgbClr val="003366"/>
                </a:solidFill>
              </a:defRPr>
            </a:pPr>
            <a:r>
              <a:t>Dashboard: Investor Analytics (Page 3)</a:t>
            </a:r>
          </a:p>
        </p:txBody>
      </p:sp>
      <p:sp>
        <p:nvSpPr>
          <p:cNvPr id="5" name="Rectangle 4"/>
          <p:cNvSpPr/>
          <p:nvPr/>
        </p:nvSpPr>
        <p:spPr>
          <a:xfrm>
            <a:off x="457200" y="77724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ge3.png"/>
          <p:cNvPicPr>
            <a:picLocks noChangeAspect="1"/>
          </p:cNvPicPr>
          <p:nvPr/>
        </p:nvPicPr>
        <p:blipFill>
          <a:blip r:embed="rId2"/>
          <a:stretch>
            <a:fillRect/>
          </a:stretch>
        </p:blipFill>
        <p:spPr>
          <a:xfrm>
            <a:off x="457200" y="914400"/>
            <a:ext cx="8229600" cy="4754880"/>
          </a:xfrm>
          <a:prstGeom prst="rect">
            <a:avLst/>
          </a:prstGeom>
        </p:spPr>
      </p:pic>
      <p:sp>
        <p:nvSpPr>
          <p:cNvPr id="7" name="TextBox 6"/>
          <p:cNvSpPr txBox="1"/>
          <p:nvPr/>
        </p:nvSpPr>
        <p:spPr>
          <a:xfrm>
            <a:off x="457200" y="5760720"/>
            <a:ext cx="8229600" cy="457200"/>
          </a:xfrm>
          <a:prstGeom prst="rect">
            <a:avLst/>
          </a:prstGeom>
          <a:noFill/>
        </p:spPr>
        <p:txBody>
          <a:bodyPr wrap="square">
            <a:spAutoFit/>
          </a:bodyPr>
          <a:lstStyle/>
          <a:p>
            <a:pPr>
              <a:lnSpc>
                <a:spcPts val="2000"/>
              </a:lnSpc>
              <a:defRPr sz="1100">
                <a:solidFill>
                  <a:srgbClr val="646464"/>
                </a:solidFill>
              </a:defRPr>
            </a:pPr>
            <a:r>
              <a:t>Transaction by State | SIP vs Lumpsum vs Redemption Donut | Age Group vs Avg SIP | Monthly Volume Trend</a:t>
            </a:r>
          </a:p>
        </p:txBody>
      </p:sp>
      <p:sp>
        <p:nvSpPr>
          <p:cNvPr id="8" name="Rectangle 7"/>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09728" cy="680313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229600" cy="640080"/>
          </a:xfrm>
          <a:prstGeom prst="rect">
            <a:avLst/>
          </a:prstGeom>
          <a:noFill/>
        </p:spPr>
        <p:txBody>
          <a:bodyPr wrap="square">
            <a:spAutoFit/>
          </a:bodyPr>
          <a:lstStyle/>
          <a:p>
            <a:pPr algn="l">
              <a:defRPr sz="2600" b="1">
                <a:solidFill>
                  <a:srgbClr val="003366"/>
                </a:solidFill>
              </a:defRPr>
            </a:pPr>
            <a:r>
              <a:t>Key Findings &amp; Strategic Recommendations</a:t>
            </a:r>
          </a:p>
        </p:txBody>
      </p:sp>
      <p:sp>
        <p:nvSpPr>
          <p:cNvPr id="5" name="Rectangle 4"/>
          <p:cNvSpPr/>
          <p:nvPr/>
        </p:nvSpPr>
        <p:spPr>
          <a:xfrm>
            <a:off x="457200" y="868680"/>
            <a:ext cx="8229600" cy="2743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8229600" cy="4754880"/>
          </a:xfrm>
          <a:prstGeom prst="rect">
            <a:avLst/>
          </a:prstGeom>
          <a:noFill/>
        </p:spPr>
        <p:txBody>
          <a:bodyPr wrap="square">
            <a:spAutoFit/>
          </a:bodyPr>
          <a:lstStyle/>
          <a:p>
            <a:pPr>
              <a:lnSpc>
                <a:spcPts val="2000"/>
              </a:lnSpc>
              <a:spcBef>
                <a:spcPts val="400"/>
              </a:spcBef>
              <a:spcAft>
                <a:spcPts val="600"/>
              </a:spcAft>
            </a:pPr>
            <a:r>
              <a:rPr b="1" sz="1300">
                <a:solidFill>
                  <a:srgbClr val="003366"/>
                </a:solidFill>
              </a:rPr>
              <a:t>Finding 1 - SIP Resilience: </a:t>
            </a:r>
            <a:r>
              <a:rPr sz="1300">
                <a:solidFill>
                  <a:srgbClr val="282828"/>
                </a:solidFill>
              </a:rPr>
              <a:t>SIP inflows remained structurally resilient even during market corrections (mid-2022 rate hikes), confirming a permanent behavioral shift in Indian retail investing. Monthly SIP contributions never dropped below Rs.12,000 Crore.</a:t>
            </a:r>
          </a:p>
          <a:p>
            <a:pPr>
              <a:lnSpc>
                <a:spcPts val="2000"/>
              </a:lnSpc>
              <a:spcBef>
                <a:spcPts val="400"/>
              </a:spcBef>
              <a:spcAft>
                <a:spcPts val="600"/>
              </a:spcAft>
            </a:pPr>
            <a:r>
              <a:rPr b="1" sz="1300">
                <a:solidFill>
                  <a:srgbClr val="003366"/>
                </a:solidFill>
              </a:rPr>
              <a:t>Finding 2 - Risk-Adjusted Leaders: </a:t>
            </a:r>
            <a:r>
              <a:rPr sz="1300">
                <a:solidFill>
                  <a:srgbClr val="282828"/>
                </a:solidFill>
              </a:rPr>
              <a:t>Mirae Asset and Kotak funds consistently rank highest on risk-adjusted metrics (Sharpe &gt; 1.3). Some large-cap funds with massive AUM show negative Alpha, suggesting passive index funds may outperform them.</a:t>
            </a:r>
          </a:p>
          <a:p>
            <a:pPr>
              <a:lnSpc>
                <a:spcPts val="2000"/>
              </a:lnSpc>
              <a:spcBef>
                <a:spcPts val="400"/>
              </a:spcBef>
              <a:spcAft>
                <a:spcPts val="600"/>
              </a:spcAft>
            </a:pPr>
            <a:r>
              <a:rPr b="1" sz="1300">
                <a:solidFill>
                  <a:srgbClr val="003366"/>
                </a:solidFill>
              </a:rPr>
              <a:t>Finding 3 - Tier-2 Opportunity: </a:t>
            </a:r>
            <a:r>
              <a:rPr sz="1300">
                <a:solidFill>
                  <a:srgbClr val="282828"/>
                </a:solidFill>
              </a:rPr>
              <a:t>Tier-2 city investors show 25% higher SIP growth rates than Tier-1, presenting a massive untapped distribution and marketing opportunity for fintech platforms.</a:t>
            </a:r>
          </a:p>
          <a:p>
            <a:pPr>
              <a:lnSpc>
                <a:spcPts val="2000"/>
              </a:lnSpc>
              <a:spcBef>
                <a:spcPts val="400"/>
              </a:spcBef>
              <a:spcAft>
                <a:spcPts val="600"/>
              </a:spcAft>
            </a:pPr>
            <a:r>
              <a:rPr b="1" sz="1300">
                <a:solidFill>
                  <a:srgbClr val="003366"/>
                </a:solidFill>
              </a:rPr>
              <a:t>Recommendation 1: </a:t>
            </a:r>
            <a:r>
              <a:rPr sz="1300">
                <a:solidFill>
                  <a:srgbClr val="282828"/>
                </a:solidFill>
              </a:rPr>
              <a:t>Integrate Sharpe-based fund rankings as default sort order on Bluestock's platform to protect retail investors from chasing high-Beta, high-return traps.</a:t>
            </a:r>
          </a:p>
          <a:p>
            <a:pPr>
              <a:lnSpc>
                <a:spcPts val="2000"/>
              </a:lnSpc>
              <a:spcBef>
                <a:spcPts val="400"/>
              </a:spcBef>
              <a:spcAft>
                <a:spcPts val="600"/>
              </a:spcAft>
            </a:pPr>
            <a:r>
              <a:rPr b="1" sz="1300">
                <a:solidFill>
                  <a:srgbClr val="003366"/>
                </a:solidFill>
              </a:rPr>
              <a:t>Recommendation 2: </a:t>
            </a:r>
            <a:r>
              <a:rPr sz="1300">
                <a:solidFill>
                  <a:srgbClr val="282828"/>
                </a:solidFill>
              </a:rPr>
              <a:t>Deploy automated SIP churn alerts using the 35-day gap detection logic to trigger email/SMS retention campaigns for at-risk investors.</a:t>
            </a:r>
          </a:p>
          <a:p>
            <a:pPr>
              <a:lnSpc>
                <a:spcPts val="2000"/>
              </a:lnSpc>
              <a:spcBef>
                <a:spcPts val="400"/>
              </a:spcBef>
              <a:spcAft>
                <a:spcPts val="600"/>
              </a:spcAft>
            </a:pPr>
            <a:r>
              <a:rPr b="1" sz="1300">
                <a:solidFill>
                  <a:srgbClr val="003366"/>
                </a:solidFill>
              </a:rPr>
              <a:t>Recommendation 3: </a:t>
            </a:r>
            <a:r>
              <a:rPr sz="1300">
                <a:solidFill>
                  <a:srgbClr val="282828"/>
                </a:solidFill>
              </a:rPr>
              <a:t>Expand digital marketing channels targeting 26-35 age group in Tier-2 cities where customer acquisition cost is lower and growth potential is highest.</a:t>
            </a:r>
          </a:p>
          <a:p>
            <a:pPr>
              <a:lnSpc>
                <a:spcPts val="2000"/>
              </a:lnSpc>
              <a:spcBef>
                <a:spcPts val="400"/>
              </a:spcBef>
              <a:spcAft>
                <a:spcPts val="600"/>
              </a:spcAft>
            </a:pPr>
            <a:r>
              <a:rPr b="1" sz="1300">
                <a:solidFill>
                  <a:srgbClr val="003366"/>
                </a:solidFill>
              </a:rPr>
              <a:t>Recommendation 4: </a:t>
            </a:r>
            <a:r>
              <a:rPr sz="1300">
                <a:solidFill>
                  <a:srgbClr val="282828"/>
                </a:solidFill>
              </a:rPr>
              <a:t>Display HHI-based "Portfolio Concentration" warnings on fund detail pages to help investors make informed diversification decisions.</a:t>
            </a:r>
          </a:p>
        </p:txBody>
      </p:sp>
      <p:sp>
        <p:nvSpPr>
          <p:cNvPr id="7" name="Rectangle 6"/>
          <p:cNvSpPr/>
          <p:nvPr/>
        </p:nvSpPr>
        <p:spPr>
          <a:xfrm>
            <a:off x="0" y="6492240"/>
            <a:ext cx="914400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8229600" cy="320040"/>
          </a:xfrm>
          <a:prstGeom prst="rect">
            <a:avLst/>
          </a:prstGeom>
          <a:noFill/>
        </p:spPr>
        <p:txBody>
          <a:bodyPr wrap="none">
            <a:spAutoFit/>
          </a:bodyPr>
          <a:lstStyle/>
          <a:p>
            <a:pPr algn="ctr">
              <a:defRPr sz="900">
                <a:solidFill>
                  <a:srgbClr val="DCDCDC"/>
                </a:solidFill>
              </a:defRPr>
            </a:pPr>
            <a:r>
              <a:t>Bluestock MF Analytics | Damodara P | June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1371600"/>
            <a:ext cx="45720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8229600" cy="914400"/>
          </a:xfrm>
          <a:prstGeom prst="rect">
            <a:avLst/>
          </a:prstGeom>
          <a:noFill/>
        </p:spPr>
        <p:txBody>
          <a:bodyPr wrap="square">
            <a:spAutoFit/>
          </a:bodyPr>
          <a:lstStyle/>
          <a:p>
            <a:pPr algn="ctr">
              <a:defRPr sz="4400" b="1">
                <a:solidFill>
                  <a:srgbClr val="FFFFFF"/>
                </a:solidFill>
              </a:defRPr>
            </a:pPr>
            <a:r>
              <a:t>Thank You!</a:t>
            </a:r>
          </a:p>
        </p:txBody>
      </p:sp>
      <p:sp>
        <p:nvSpPr>
          <p:cNvPr id="5" name="Rectangle 4"/>
          <p:cNvSpPr/>
          <p:nvPr/>
        </p:nvSpPr>
        <p:spPr>
          <a:xfrm>
            <a:off x="2743200" y="2743200"/>
            <a:ext cx="3657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108960"/>
            <a:ext cx="8229600" cy="548640"/>
          </a:xfrm>
          <a:prstGeom prst="rect">
            <a:avLst/>
          </a:prstGeom>
          <a:noFill/>
        </p:spPr>
        <p:txBody>
          <a:bodyPr wrap="square">
            <a:spAutoFit/>
          </a:bodyPr>
          <a:lstStyle/>
          <a:p>
            <a:pPr algn="ctr">
              <a:defRPr sz="1800" b="0">
                <a:solidFill>
                  <a:srgbClr val="DCDCDC"/>
                </a:solidFill>
              </a:defRPr>
            </a:pPr>
            <a:r>
              <a:t>Bluestock Mutual Fund Analytics Capstone</a:t>
            </a:r>
          </a:p>
        </p:txBody>
      </p:sp>
      <p:sp>
        <p:nvSpPr>
          <p:cNvPr id="7" name="TextBox 6"/>
          <p:cNvSpPr txBox="1"/>
          <p:nvPr/>
        </p:nvSpPr>
        <p:spPr>
          <a:xfrm>
            <a:off x="457200" y="3749039"/>
            <a:ext cx="8229600" cy="457200"/>
          </a:xfrm>
          <a:prstGeom prst="rect">
            <a:avLst/>
          </a:prstGeom>
          <a:noFill/>
        </p:spPr>
        <p:txBody>
          <a:bodyPr wrap="square">
            <a:spAutoFit/>
          </a:bodyPr>
          <a:lstStyle/>
          <a:p>
            <a:pPr algn="ctr">
              <a:defRPr sz="1600" b="1">
                <a:solidFill>
                  <a:srgbClr val="FFFFFF"/>
                </a:solidFill>
              </a:defRPr>
            </a:pPr>
            <a:r>
              <a:t>Submitted By: Damodara P</a:t>
            </a:r>
          </a:p>
        </p:txBody>
      </p:sp>
      <p:sp>
        <p:nvSpPr>
          <p:cNvPr id="8" name="TextBox 7"/>
          <p:cNvSpPr txBox="1"/>
          <p:nvPr/>
        </p:nvSpPr>
        <p:spPr>
          <a:xfrm>
            <a:off x="457200" y="4206240"/>
            <a:ext cx="8229600" cy="457200"/>
          </a:xfrm>
          <a:prstGeom prst="rect">
            <a:avLst/>
          </a:prstGeom>
          <a:noFill/>
        </p:spPr>
        <p:txBody>
          <a:bodyPr wrap="square">
            <a:spAutoFit/>
          </a:bodyPr>
          <a:lstStyle/>
          <a:p>
            <a:pPr algn="ctr">
              <a:defRPr sz="1400" b="0">
                <a:solidFill>
                  <a:srgbClr val="DCDCDC"/>
                </a:solidFill>
              </a:defRPr>
            </a:pPr>
            <a:r>
              <a:t>Data Analyst Intern  |  Bluestock Fintech  |  June 2026</a:t>
            </a:r>
          </a:p>
        </p:txBody>
      </p:sp>
      <p:sp>
        <p:nvSpPr>
          <p:cNvPr id="9" name="TextBox 8"/>
          <p:cNvSpPr txBox="1"/>
          <p:nvPr/>
        </p:nvSpPr>
        <p:spPr>
          <a:xfrm>
            <a:off x="457200" y="4754880"/>
            <a:ext cx="8229600" cy="457200"/>
          </a:xfrm>
          <a:prstGeom prst="rect">
            <a:avLst/>
          </a:prstGeom>
          <a:noFill/>
        </p:spPr>
        <p:txBody>
          <a:bodyPr wrap="square">
            <a:spAutoFit/>
          </a:bodyPr>
          <a:lstStyle/>
          <a:p>
            <a:pPr algn="ctr">
              <a:defRPr sz="1400" b="0">
                <a:solidFill>
                  <a:srgbClr val="0066CC"/>
                </a:solidFill>
              </a:defRPr>
            </a:pPr>
            <a:r>
              <a:t>pdamodaran2000@gmail.com</a:t>
            </a:r>
          </a:p>
        </p:txBody>
      </p:sp>
      <p:sp>
        <p:nvSpPr>
          <p:cNvPr id="10" name="Rectangle 9"/>
          <p:cNvSpPr/>
          <p:nvPr/>
        </p:nvSpPr>
        <p:spPr>
          <a:xfrm>
            <a:off x="2286000" y="5394960"/>
            <a:ext cx="45720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69280"/>
            <a:ext cx="8229600" cy="457200"/>
          </a:xfrm>
          <a:prstGeom prst="rect">
            <a:avLst/>
          </a:prstGeom>
          <a:noFill/>
        </p:spPr>
        <p:txBody>
          <a:bodyPr wrap="square">
            <a:spAutoFit/>
          </a:bodyPr>
          <a:lstStyle/>
          <a:p>
            <a:pPr algn="ctr">
              <a:defRPr sz="1600" b="1">
                <a:solidFill>
                  <a:srgbClr val="0066CC"/>
                </a:solidFill>
              </a:defRPr>
            </a:pPr>
            <a:r>
              <a:t>Questions &amp; Feedback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